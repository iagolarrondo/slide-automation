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media/image1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B697A3DA-1250-4D5E-AF28-0755A69A49D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2EE38A-D335-3A49-EEDD-2EDDBB768101}" name="Stefan Brown" initials="SB" userId="S::stefan.brown@brightcarbon.com::252352bc-e6ff-405e-b10a-872912c68e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B537"/>
    <a:srgbClr val="ED7700"/>
    <a:srgbClr val="EE0044"/>
    <a:srgbClr val="E7ECF0"/>
    <a:srgbClr val="E6ECF0"/>
    <a:srgbClr val="000000"/>
    <a:srgbClr val="545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1D145-1427-4131-BB07-3712E7F8D4DB}" v="4" dt="2022-09-15T09:49:42.94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4694" autoAdjust="0"/>
  </p:normalViewPr>
  <p:slideViewPr>
    <p:cSldViewPr snapToGrid="0">
      <p:cViewPr varScale="1">
        <p:scale>
          <a:sx n="116" d="100"/>
          <a:sy n="116" d="100"/>
        </p:scale>
        <p:origin x="216" y="200"/>
      </p:cViewPr>
      <p:guideLst/>
    </p:cSldViewPr>
  </p:slideViewPr>
  <p:outlineViewPr>
    <p:cViewPr>
      <p:scale>
        <a:sx n="33" d="100"/>
        <a:sy n="33" d="100"/>
      </p:scale>
      <p:origin x="0" y="-3298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50"/>
    </p:cViewPr>
  </p:sorterViewPr>
  <p:notesViewPr>
    <p:cSldViewPr snapToGrid="0" showGuides="1">
      <p:cViewPr varScale="1">
        <p:scale>
          <a:sx n="80" d="100"/>
          <a:sy n="80" d="100"/>
        </p:scale>
        <p:origin x="314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5/10/relationships/revisionInfo" Target="revisionInfo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781E1-E7C6-4A49-9D67-2D42C6274E9E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9C831-25D6-44EC-814F-AB09CD1A7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209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7.emf"/><Relationship Id="rId5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8.emf"/><Relationship Id="rId5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8.emf"/><Relationship Id="rId5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8.emf"/><Relationship Id="rId5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8.emf"/><Relationship Id="rId5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8.emf"/><Relationship Id="rId5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9.emf"/><Relationship Id="rId5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0.emf"/><Relationship Id="rId5" Type="http://schemas.openxmlformats.org/officeDocument/2006/relationships/image" Target="../media/image11.svg"/><Relationship Id="rId6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618BC3D7-2C5C-F3F2-470B-CEC0472FF4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07779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B1CDF626-A43A-15CA-052E-51A52A2E3E8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54033"/>
            <a:ext cx="12192000" cy="6965373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D4913-F329-4D65-645B-D293296299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473036"/>
            <a:ext cx="9836727" cy="2387600"/>
          </a:xfrm>
        </p:spPr>
        <p:txBody>
          <a:bodyPr vert="horz" lIns="0" anchor="t">
            <a:noAutofit/>
          </a:bodyPr>
          <a:lstStyle>
            <a:lvl1pPr algn="l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5E623-2193-8E27-78A2-0971D65529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799" y="5062654"/>
            <a:ext cx="9361171" cy="1056205"/>
          </a:xfrm>
        </p:spPr>
        <p:txBody>
          <a:bodyPr lIns="0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</a:t>
            </a:r>
          </a:p>
          <a:p>
            <a:r>
              <a:rPr lang="en-US" dirty="0"/>
              <a:t>Team</a:t>
            </a:r>
            <a:endParaRPr lang="en-GB" dirty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860BACBD-51DE-8153-7209-E64B409563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6384963"/>
            <a:ext cx="9361170" cy="305396"/>
          </a:xfrm>
        </p:spPr>
        <p:txBody>
          <a:bodyPr>
            <a:noAutofit/>
          </a:bodyPr>
          <a:lstStyle>
            <a:lvl1pPr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2A61CD0-B138-1043-27D1-632003B59B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2527" y="6118859"/>
            <a:ext cx="983672" cy="5737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52668CAA-0F89-AFE2-64A7-22B8059AA2CB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bg1"/>
          </a:solidFill>
        </p:grpSpPr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3E1E0AE2-930D-309E-F46D-B199F3391E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8DADDD-39A6-9635-770C-713279495EA1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0009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23754089-2765-33A9-3235-C959D18B99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11219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8FA95B7-D064-E05B-FC59-9E85B9F019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54033"/>
            <a:ext cx="8978900" cy="6965373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6F7990-2BD8-E503-0275-74D9B96D6A8C}"/>
              </a:ext>
            </a:extLst>
          </p:cNvPr>
          <p:cNvSpPr/>
          <p:nvPr userDrawn="1"/>
        </p:nvSpPr>
        <p:spPr>
          <a:xfrm>
            <a:off x="8978900" y="0"/>
            <a:ext cx="32131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21F3B8-3FF9-7F1F-745F-558C2BB58674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377DD66-EF21-DE7D-9686-498D54A378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AD4FB3-0EF8-81B8-7322-849CBCA598E9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25E5CDA6-797D-4135-B2B3-F16B228873FF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26301" y="1326723"/>
            <a:ext cx="6480000" cy="4203861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E600C-095F-A8B5-B4A3-2124C1D63F11}"/>
              </a:ext>
            </a:extLst>
          </p:cNvPr>
          <p:cNvSpPr txBox="1"/>
          <p:nvPr userDrawn="1"/>
        </p:nvSpPr>
        <p:spPr>
          <a:xfrm rot="16200000">
            <a:off x="4267254" y="2507873"/>
            <a:ext cx="8489011" cy="178510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100" b="1" spc="420" baseline="0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0863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2FA35DA-6A9F-097E-EE50-2D9A76E7D9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92873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198BA0-654F-859A-392E-53AD4EC037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76938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61D8E2-251A-6FC6-3949-5E987F3148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79750" y="0"/>
            <a:ext cx="2897188" cy="6858000"/>
          </a:xfrm>
          <a:gradFill flip="none" rotWithShape="1">
            <a:gsLst>
              <a:gs pos="100000">
                <a:srgbClr val="000000">
                  <a:alpha val="0"/>
                </a:srgbClr>
              </a:gs>
              <a:gs pos="0">
                <a:srgbClr val="000000">
                  <a:alpha val="32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>
            <a:lvl1pPr marL="0" indent="0" algn="ctr">
              <a:buNone/>
              <a:defRPr lang="en-US" sz="800" dirty="0" smtClean="0">
                <a:solidFill>
                  <a:schemeClr val="lt1"/>
                </a:solidFill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GB" dirty="0">
                <a:solidFill>
                  <a:schemeClr val="lt1"/>
                </a:solidFill>
              </a:defRPr>
            </a:lvl5pPr>
          </a:lstStyle>
          <a:p>
            <a:pPr lvl="0" defTabSz="45720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56AA3-380D-4C49-D258-51E118CBDB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2847068" y="3728130"/>
            <a:ext cx="4027487" cy="2232252"/>
          </a:xfrm>
        </p:spPr>
        <p:txBody>
          <a:bodyPr lIns="0" bIns="0" anchor="ctr">
            <a:noAutofit/>
          </a:bodyPr>
          <a:lstStyle>
            <a:lvl1pPr marL="0" indent="0">
              <a:buNone/>
              <a:defRPr sz="239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0X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23DF25-179E-401A-B93A-47298B5BC7D6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8FD0CD0-7CD9-6FB6-DABE-74F2C3903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B9F875-70E1-7F6D-B85A-31C058053A01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775C178F-A28F-E288-EAB0-BE9CB52C9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1873" y="1866899"/>
            <a:ext cx="4875441" cy="3623129"/>
          </a:xfrm>
        </p:spPr>
        <p:txBody>
          <a:bodyPr vert="horz" rIns="90000" anchor="ctr">
            <a:noAutofit/>
          </a:bodyPr>
          <a:lstStyle>
            <a:lvl1pPr>
              <a:defRPr sz="24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SECTION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15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0" y="1714500"/>
            <a:ext cx="10820397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1082039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30EC001-ACCA-FCDC-058C-DE23748483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10833104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320047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5039998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504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8EBF666E-03AB-FAA9-31AF-03A4304811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5039998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0DBDBB6-768E-185C-823B-3231476D43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204" y="2514634"/>
            <a:ext cx="5039998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85925E1-3796-D0C6-1963-9EC30E9F40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9978" y="1714500"/>
            <a:ext cx="5039998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EA8843-32EA-68B5-E182-660FB75D0E50}"/>
              </a:ext>
            </a:extLst>
          </p:cNvPr>
          <p:cNvCxnSpPr>
            <a:cxnSpLocks/>
          </p:cNvCxnSpPr>
          <p:nvPr userDrawn="1"/>
        </p:nvCxnSpPr>
        <p:spPr>
          <a:xfrm>
            <a:off x="6461567" y="2307389"/>
            <a:ext cx="504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1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3235621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323562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AB7B020-EA1E-327B-4BD4-16FAB1E10D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0168670-4AAC-BBAE-0B8E-10A1DEE153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352" y="1714500"/>
            <a:ext cx="3235623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BF74DF-3322-0EBC-0C49-69850D4CD7B3}"/>
              </a:ext>
            </a:extLst>
          </p:cNvPr>
          <p:cNvCxnSpPr>
            <a:cxnSpLocks/>
          </p:cNvCxnSpPr>
          <p:nvPr userDrawn="1"/>
        </p:nvCxnSpPr>
        <p:spPr>
          <a:xfrm>
            <a:off x="8265943" y="2307389"/>
            <a:ext cx="323562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BE2A39-6D87-9ECC-ED80-AA382A94CC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77203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4D7F764-B21E-E266-21D8-31919F31E7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856" y="1714500"/>
            <a:ext cx="3235623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83A113-8097-408D-8AA1-74B65DCB1B57}"/>
              </a:ext>
            </a:extLst>
          </p:cNvPr>
          <p:cNvCxnSpPr>
            <a:cxnSpLocks/>
          </p:cNvCxnSpPr>
          <p:nvPr userDrawn="1"/>
        </p:nvCxnSpPr>
        <p:spPr>
          <a:xfrm>
            <a:off x="4469447" y="2307389"/>
            <a:ext cx="323562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9B568B6-9F35-0851-9F68-2086267153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0707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37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2 Blocks – Big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7019267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701926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AB7B020-EA1E-327B-4BD4-16FAB1E10D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09" y="2514634"/>
            <a:ext cx="7019269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0168670-4AAC-BBAE-0B8E-10A1DEE153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352" y="1714500"/>
            <a:ext cx="3235623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BF74DF-3322-0EBC-0C49-69850D4CD7B3}"/>
              </a:ext>
            </a:extLst>
          </p:cNvPr>
          <p:cNvCxnSpPr>
            <a:cxnSpLocks/>
          </p:cNvCxnSpPr>
          <p:nvPr userDrawn="1"/>
        </p:nvCxnSpPr>
        <p:spPr>
          <a:xfrm>
            <a:off x="8265943" y="2307389"/>
            <a:ext cx="323562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BE2A39-6D87-9ECC-ED80-AA382A94CC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77203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23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– 2 Blocks – Big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0EE11CD-B303-8AE8-07BD-5821332BDF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808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EE11CD-B303-8AE8-07BD-5821332BDF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E09E9B9-AFCA-64A7-6DC1-C003D04B0767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BBB5F80-C9B7-FC3D-0365-793D36000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0C268B-26F0-5ED0-206B-A766A8777313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C3641-3543-3523-61C7-83D85D80E2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1FE86-8351-FE00-A0DC-A499C7791D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C3C5E7-61CE-0834-2A4E-CDA4771B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37981"/>
            <a:ext cx="10264140" cy="800134"/>
          </a:xfrm>
        </p:spPr>
        <p:txBody>
          <a:bodyPr vert="horz">
            <a:noAutofit/>
          </a:bodyPr>
          <a:lstStyle/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F1AA9C34-909E-8375-1E9B-5336582369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11" y="1714500"/>
            <a:ext cx="3235621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23BE7A-00A1-64AA-A57E-4B2567243776}"/>
              </a:ext>
            </a:extLst>
          </p:cNvPr>
          <p:cNvCxnSpPr>
            <a:cxnSpLocks/>
          </p:cNvCxnSpPr>
          <p:nvPr userDrawn="1"/>
        </p:nvCxnSpPr>
        <p:spPr>
          <a:xfrm>
            <a:off x="685800" y="2307389"/>
            <a:ext cx="323562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C85607E-871B-9DA1-F0F3-99A797E378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10" y="312738"/>
            <a:ext cx="10265730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CAB7B020-EA1E-327B-4BD4-16FAB1E10D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10" y="2514634"/>
            <a:ext cx="3235622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4D7F764-B21E-E266-21D8-31919F31E7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7856" y="1714500"/>
            <a:ext cx="7049457" cy="800134"/>
          </a:xfrm>
        </p:spPr>
        <p:txBody>
          <a:bodyPr tIns="144000">
            <a:noAutofit/>
          </a:bodyPr>
          <a:lstStyle>
            <a:lvl1pPr algn="ctr">
              <a:buNone/>
              <a:defRPr lang="en-US" sz="1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83A113-8097-408D-8AA1-74B65DCB1B57}"/>
              </a:ext>
            </a:extLst>
          </p:cNvPr>
          <p:cNvCxnSpPr>
            <a:cxnSpLocks/>
          </p:cNvCxnSpPr>
          <p:nvPr userDrawn="1"/>
        </p:nvCxnSpPr>
        <p:spPr>
          <a:xfrm>
            <a:off x="4469447" y="2307389"/>
            <a:ext cx="704945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9B568B6-9F35-0851-9F68-2086267153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0706" y="2514634"/>
            <a:ext cx="7036607" cy="342896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972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FD24650-8D07-E915-A479-7787EDAAF3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8979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B4C8E8F1-E3E0-AC07-170C-CAEE4FFF49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13385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bIns="1620000" anchor="ctr">
            <a:normAutofit/>
          </a:bodyPr>
          <a:lstStyle>
            <a:lvl1pPr marL="0" indent="0" algn="ctr">
              <a:buNone/>
              <a:defRPr sz="3600" baseline="-2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Select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82F75-10AC-6FE7-9219-3184AC731D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469" y="914399"/>
            <a:ext cx="2926102" cy="2070101"/>
          </a:xfrm>
        </p:spPr>
        <p:txBody>
          <a:bodyPr vert="horz" lIns="0" anchor="t">
            <a:normAutofit/>
          </a:bodyPr>
          <a:lstStyle>
            <a:lvl1pPr algn="ctr"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08D95-250F-A8DF-A475-09F05F49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213" y="3289301"/>
            <a:ext cx="2944358" cy="2654300"/>
          </a:xfrm>
        </p:spPr>
        <p:txBody>
          <a:bodyPr lIns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9AE01A-1145-101C-AB07-EFC6A2573961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5640C2-D48E-05F4-4E9E-EFD8460F84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260E89-4FF7-8816-23A4-90F67973F9BE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F9E5B-3078-4D59-248A-BB045FC561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CB71634-0D08-DB98-5565-08C483E710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74F2AC-1E9A-41D4-8B35-A069FB3432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4743FC5F-9A1B-044B-A6A6-C1E52FA9F4D5}"/>
              </a:ext>
            </a:extLst>
          </p:cNvPr>
          <p:cNvSpPr txBox="1">
            <a:spLocks/>
          </p:cNvSpPr>
          <p:nvPr userDrawn="1"/>
        </p:nvSpPr>
        <p:spPr>
          <a:xfrm>
            <a:off x="4818062" y="637981"/>
            <a:ext cx="6131877" cy="800134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Heading</a:t>
            </a:r>
            <a:endParaRPr lang="en-GB" dirty="0"/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0D3E5A12-B74D-8A56-C9C9-C65C6FCC73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7112" y="312738"/>
            <a:ext cx="6132827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0412454-3E28-9C7A-E7EA-64699D2FC4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7112" y="1714496"/>
            <a:ext cx="6700201" cy="42291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685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2825204B-6A6E-C038-CC71-C90CE961C2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63804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963C4-2BE4-8A49-5154-331559506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7135813" cy="6857999"/>
          </a:xfrm>
          <a:solidFill>
            <a:schemeClr val="tx1">
              <a:lumMod val="20000"/>
              <a:lumOff val="80000"/>
            </a:schemeClr>
          </a:solidFill>
        </p:spPr>
        <p:txBody>
          <a:bodyPr bIns="1224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8F4B474-B193-ADA1-885F-E0D77103A6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435600"/>
            <a:ext cx="7135813" cy="1422399"/>
          </a:xfrm>
          <a:gradFill flip="none" rotWithShape="1">
            <a:gsLst>
              <a:gs pos="100000">
                <a:srgbClr val="000000">
                  <a:alpha val="0"/>
                </a:srgbClr>
              </a:gs>
              <a:gs pos="0">
                <a:srgbClr val="000000">
                  <a:alpha val="4000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b"/>
          <a:lstStyle>
            <a:lvl1pPr marL="0" indent="0" algn="ctr">
              <a:buNone/>
              <a:defRPr lang="en-US" sz="800" dirty="0" smtClean="0">
                <a:solidFill>
                  <a:schemeClr val="lt1"/>
                </a:solidFill>
              </a:defRPr>
            </a:lvl1pPr>
            <a:lvl2pPr>
              <a:defRPr lang="en-US" dirty="0" smtClean="0">
                <a:solidFill>
                  <a:schemeClr val="lt1"/>
                </a:solidFill>
              </a:defRPr>
            </a:lvl2pPr>
            <a:lvl3pPr>
              <a:defRPr lang="en-US" dirty="0" smtClean="0">
                <a:solidFill>
                  <a:schemeClr val="lt1"/>
                </a:solidFill>
              </a:defRPr>
            </a:lvl3pPr>
            <a:lvl4pPr>
              <a:defRPr lang="en-US" dirty="0" smtClean="0">
                <a:solidFill>
                  <a:schemeClr val="lt1"/>
                </a:solidFill>
              </a:defRPr>
            </a:lvl4pPr>
            <a:lvl5pPr>
              <a:defRPr lang="en-GB" dirty="0">
                <a:solidFill>
                  <a:schemeClr val="lt1"/>
                </a:solidFill>
              </a:defRPr>
            </a:lvl5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Do not enter text into this placeholder. This will not show up when presenting.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6E472-B38C-C109-1A8A-E3819EF1B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0025" y="1722661"/>
            <a:ext cx="3686175" cy="1987327"/>
          </a:xfrm>
        </p:spPr>
        <p:txBody>
          <a:bodyPr vert="horz" lIns="0" anchor="ctr">
            <a:normAutofit/>
          </a:bodyPr>
          <a:lstStyle>
            <a:lvl1pPr algn="ctr">
              <a:defRPr sz="2400" cap="all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C8271-20AF-BC16-21DD-D105DCC95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20025" y="3956274"/>
            <a:ext cx="3686175" cy="1987327"/>
          </a:xfrm>
        </p:spPr>
        <p:txBody>
          <a:bodyPr lIns="0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1F412B3-1898-9E10-2720-3B2302890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22527" y="6118859"/>
            <a:ext cx="983672" cy="57377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843B916-36BE-6985-EE30-8F683D1D25A0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0B607D0-D082-8223-0ABF-40723A02D7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B18141-557E-CF6B-12DA-9D8967356DEF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F53666F-315E-2AE5-5FBF-9CDB2F9DB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B956D2-FF6B-FB30-5391-B39DA67FC0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74F2AC-1E9A-41D4-8B35-A069FB3432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8CF50DA9-2CE0-8D57-7DA6-D1EC16688E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20025" y="312738"/>
            <a:ext cx="3129914" cy="325243"/>
          </a:xfrm>
        </p:spPr>
        <p:txBody>
          <a:bodyPr>
            <a:noAutofit/>
          </a:bodyPr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6918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ark&#10;&#10;Description automatically generated">
            <a:extLst>
              <a:ext uri="{FF2B5EF4-FFF2-40B4-BE49-F238E27FC236}">
                <a16:creationId xmlns:a16="http://schemas.microsoft.com/office/drawing/2014/main" id="{D8AA99AB-A73A-CE04-8336-0AEA409C6F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525" y="613409"/>
            <a:ext cx="3683015" cy="582295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3281A2-EB54-0225-202E-C6D10220CC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0389" y="2194414"/>
            <a:ext cx="5529262" cy="2247899"/>
          </a:xfrm>
        </p:spPr>
        <p:txBody>
          <a:bodyPr rIns="0">
            <a:normAutofit/>
          </a:bodyPr>
          <a:lstStyle>
            <a:lvl1pPr marL="0" indent="0">
              <a:buNone/>
              <a:defRPr sz="2400" b="1">
                <a:latin typeface="+mn-lt"/>
              </a:defRPr>
            </a:lvl1pPr>
          </a:lstStyle>
          <a:p>
            <a:pPr lvl="0"/>
            <a:r>
              <a:rPr lang="en-US" dirty="0"/>
              <a:t>“Click to add quote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C3E6F5-4928-CEA7-1F9E-D43CAA4A11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389" y="4442315"/>
            <a:ext cx="5529262" cy="383685"/>
          </a:xfrm>
        </p:spPr>
        <p:txBody>
          <a:bodyPr rIns="0">
            <a:norm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 / date</a:t>
            </a:r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D4EAA8-76F9-D83C-637D-80D3E20172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2527" y="6118859"/>
            <a:ext cx="983672" cy="5737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8BB5BD5-C991-1940-A6A6-8C91F851A9EF}"/>
              </a:ext>
            </a:extLst>
          </p:cNvPr>
          <p:cNvGrpSpPr/>
          <p:nvPr userDrawn="1"/>
        </p:nvGrpSpPr>
        <p:grpSpPr>
          <a:xfrm>
            <a:off x="11236328" y="0"/>
            <a:ext cx="280986" cy="1282539"/>
            <a:chOff x="11222692" y="155575"/>
            <a:chExt cx="280986" cy="1282539"/>
          </a:xfrm>
          <a:solidFill>
            <a:schemeClr val="accent1"/>
          </a:solidFill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A54C69-04EC-842E-F280-EED0E9AD06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22692" y="1219569"/>
              <a:ext cx="280986" cy="21854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BD2C19-7224-FB7A-77CB-2A3A700EB24B}"/>
                </a:ext>
              </a:extLst>
            </p:cNvPr>
            <p:cNvSpPr/>
            <p:nvPr userDrawn="1"/>
          </p:nvSpPr>
          <p:spPr>
            <a:xfrm>
              <a:off x="11336200" y="155575"/>
              <a:ext cx="53970" cy="968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EED35B-7C56-E56C-FAF1-B42D703106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08818A-2E47-C71B-4654-720CBD0C91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6277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485E8C0-D6E1-742A-91FB-43F4D35F7E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821680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EC26B-3545-881C-E832-01F00F9A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3166"/>
            <a:ext cx="10264140" cy="1134949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C64AB-1B21-A1E4-20DB-7553965A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500"/>
            <a:ext cx="10820399" cy="4228034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A5C1168-C513-74C1-2D1C-90CA539B8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3450" y="6312695"/>
            <a:ext cx="3303588" cy="209324"/>
          </a:xfrm>
          <a:prstGeom prst="callout1">
            <a:avLst>
              <a:gd name="adj1" fmla="val 489"/>
              <a:gd name="adj2" fmla="val 124"/>
              <a:gd name="adj3" fmla="val 98152"/>
              <a:gd name="adj4" fmla="val 14"/>
            </a:avLst>
          </a:prstGeom>
          <a:ln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8356C1-9537-12C9-A8C3-95B9A17B4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211" y="6234795"/>
            <a:ext cx="24923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3A74F2AC-1E9A-41D4-8B35-A069FB3432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46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2" r:id="rId2"/>
    <p:sldLayoutId id="2147483658" r:id="rId3"/>
    <p:sldLayoutId id="2147483650" r:id="rId4"/>
    <p:sldLayoutId id="2147483693" r:id="rId5"/>
    <p:sldLayoutId id="2147483694" r:id="rId6"/>
    <p:sldLayoutId id="2147483695" r:id="rId7"/>
    <p:sldLayoutId id="2147483696" r:id="rId8"/>
    <p:sldLayoutId id="2147483656" r:id="rId9"/>
    <p:sldLayoutId id="2147483657" r:id="rId10"/>
    <p:sldLayoutId id="2147483661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Calibri" panose="020F0502020204030204" pitchFamily="34" charset="0"/>
        <a:buChar char="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Calibri" panose="020F0502020204030204" pitchFamily="34" charset="0"/>
        <a:buChar char="‒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862" userDrawn="1">
          <p15:clr>
            <a:srgbClr val="F26B43"/>
          </p15:clr>
        </p15:guide>
        <p15:guide id="5" pos="1011" userDrawn="1">
          <p15:clr>
            <a:srgbClr val="F26B43"/>
          </p15:clr>
        </p15:guide>
        <p15:guide id="6" pos="1443" userDrawn="1">
          <p15:clr>
            <a:srgbClr val="F26B43"/>
          </p15:clr>
        </p15:guide>
        <p15:guide id="7" pos="1592" userDrawn="1">
          <p15:clr>
            <a:srgbClr val="F26B43"/>
          </p15:clr>
        </p15:guide>
        <p15:guide id="8" pos="2023" userDrawn="1">
          <p15:clr>
            <a:srgbClr val="F26B43"/>
          </p15:clr>
        </p15:guide>
        <p15:guide id="9" pos="2173" userDrawn="1">
          <p15:clr>
            <a:srgbClr val="F26B43"/>
          </p15:clr>
        </p15:guide>
        <p15:guide id="10" pos="2604" userDrawn="1">
          <p15:clr>
            <a:srgbClr val="F26B43"/>
          </p15:clr>
        </p15:guide>
        <p15:guide id="11" pos="2753" userDrawn="1">
          <p15:clr>
            <a:srgbClr val="F26B43"/>
          </p15:clr>
        </p15:guide>
        <p15:guide id="12" pos="3184" userDrawn="1">
          <p15:clr>
            <a:srgbClr val="F26B43"/>
          </p15:clr>
        </p15:guide>
        <p15:guide id="13" pos="3364" userDrawn="1">
          <p15:clr>
            <a:srgbClr val="F26B43"/>
          </p15:clr>
        </p15:guide>
        <p15:guide id="14" pos="3765" userDrawn="1">
          <p15:clr>
            <a:srgbClr val="F26B43"/>
          </p15:clr>
        </p15:guide>
        <p15:guide id="15" pos="3914" userDrawn="1">
          <p15:clr>
            <a:srgbClr val="F26B43"/>
          </p15:clr>
        </p15:guide>
        <p15:guide id="16" pos="4345" userDrawn="1">
          <p15:clr>
            <a:srgbClr val="F26B43"/>
          </p15:clr>
        </p15:guide>
        <p15:guide id="17" pos="4495" userDrawn="1">
          <p15:clr>
            <a:srgbClr val="F26B43"/>
          </p15:clr>
        </p15:guide>
        <p15:guide id="18" pos="4926" userDrawn="1">
          <p15:clr>
            <a:srgbClr val="F26B43"/>
          </p15:clr>
        </p15:guide>
        <p15:guide id="19" pos="5075" userDrawn="1">
          <p15:clr>
            <a:srgbClr val="F26B43"/>
          </p15:clr>
        </p15:guide>
        <p15:guide id="20" pos="5506" userDrawn="1">
          <p15:clr>
            <a:srgbClr val="F26B43"/>
          </p15:clr>
        </p15:guide>
        <p15:guide id="21" pos="5656" userDrawn="1">
          <p15:clr>
            <a:srgbClr val="F26B43"/>
          </p15:clr>
        </p15:guide>
        <p15:guide id="22" pos="6087" userDrawn="1">
          <p15:clr>
            <a:srgbClr val="F26B43"/>
          </p15:clr>
        </p15:guide>
        <p15:guide id="23" pos="6236" userDrawn="1">
          <p15:clr>
            <a:srgbClr val="F26B43"/>
          </p15:clr>
        </p15:guide>
        <p15:guide id="24" pos="6667" userDrawn="1">
          <p15:clr>
            <a:srgbClr val="F26B43"/>
          </p15:clr>
        </p15:guide>
        <p15:guide id="25" pos="6817" userDrawn="1">
          <p15:clr>
            <a:srgbClr val="F26B43"/>
          </p15:clr>
        </p15:guide>
        <p15:guide id="26" pos="7248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1080" userDrawn="1">
          <p15:clr>
            <a:srgbClr val="F26B43"/>
          </p15:clr>
        </p15:guide>
        <p15:guide id="30" orient="horz" pos="1616" userDrawn="1">
          <p15:clr>
            <a:srgbClr val="F26B43"/>
          </p15:clr>
        </p15:guide>
        <p15:guide id="31" orient="horz" pos="1783" userDrawn="1">
          <p15:clr>
            <a:srgbClr val="F26B43"/>
          </p15:clr>
        </p15:guide>
        <p15:guide id="32" orient="horz" pos="2337" userDrawn="1">
          <p15:clr>
            <a:srgbClr val="F26B43"/>
          </p15:clr>
        </p15:guide>
        <p15:guide id="33" orient="horz" pos="2486" userDrawn="1">
          <p15:clr>
            <a:srgbClr val="F26B43"/>
          </p15:clr>
        </p15:guide>
        <p15:guide id="34" orient="horz" pos="3040" userDrawn="1">
          <p15:clr>
            <a:srgbClr val="F26B43"/>
          </p15:clr>
        </p15:guide>
        <p15:guide id="35" orient="horz" pos="3190" userDrawn="1">
          <p15:clr>
            <a:srgbClr val="F26B43"/>
          </p15:clr>
        </p15:guide>
        <p15:guide id="36" orient="horz" pos="374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Should Use It, When, and for What Decisions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Western Digital Human-Machine Collaboration Playbook, Section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Section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Should Use It, When, and for What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playbook is designed for managers who make or shape process-evolution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Primary users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Who Should Use It, When, and for What Decisions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Directors and senior directors who own process performance, productivity, quality, or transformation outcomes</a:t>
            </a:r>
          </a:p>
          <a:p>
            <a:r>
              <a:t>Vice presidents and functional leaders shaping automation, digital, or operating-model priorities</a:t>
            </a:r>
          </a:p>
          <a:p>
            <a:r>
              <a:t>Cross-functional managers coordinating decisions across operations, engineering, IT, analytics, HR, or finance</a:t>
            </a:r>
          </a:p>
          <a:p>
            <a:r>
              <a:t>Plant or site leaders balancing performance, workforce, and implementation tradeoffs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Own or influence process redesign decisions</a:t>
            </a:r>
          </a:p>
          <a:p>
            <a:r>
              <a:t>Decide where automation or AI-enabled decision support is worth pursuing</a:t>
            </a:r>
          </a:p>
          <a:p>
            <a:r>
              <a:t>Align stakeholders across functions, systems, and budgets</a:t>
            </a:r>
          </a:p>
          <a:p>
            <a:r>
              <a:t>Translate transformation ambition into scalable operating choices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Their role in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the playbook when a team is deciding whether, where, and how a process should evolve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Typical trigger situations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Evaluating a process redesign opportunity because of bottlenecks, handoff issues, quality losses, or management pain points</a:t>
            </a:r>
          </a:p>
          <a:p>
            <a:r>
              <a:t>Considering automation or AI-enabled decision support for part of a workflow</a:t>
            </a:r>
          </a:p>
          <a:p>
            <a:r>
              <a:t>Assessing readiness for a new digital initiative where data quality, systems integration, governance, or ownership remain unclear</a:t>
            </a:r>
          </a:p>
          <a:p>
            <a:r>
              <a:t>Prioritizing whether to pilot, scale, redesign first, or defer an opportunity</a:t>
            </a:r>
          </a:p>
          <a:p>
            <a:r>
              <a:t>Planning workforce implications, including role redesign, skill needs, escalation logic, and accountability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Who Should Use It, When, and for What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playbook helps leaders make structured choices about target state, readiness, prioritization, and transition path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Decision types it supports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Who Should Use It, When, and for What Decisions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Target-state decisions: what human-machine collaboration model best fits the process</a:t>
            </a:r>
          </a:p>
          <a:p>
            <a:r>
              <a:t>Readiness decisions: whether the process is ready to move, and what gaps exist across data, systems, governance, capability, and ownership</a:t>
            </a:r>
          </a:p>
          <a:p>
            <a:r>
              <a:t>Prioritization decisions: whether to pilot, scale, redesign first, or pause</a:t>
            </a:r>
          </a:p>
          <a:p>
            <a:r>
              <a:t>Transition decisions: what role redesign, capability building, governance, funding, and cross-functional coordination would be required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Typical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 current-state profile</a:t>
            </a:r>
          </a:p>
          <a:p>
            <a:r>
              <a:t>A set of feasible future-state options</a:t>
            </a:r>
          </a:p>
          <a:p>
            <a:r>
              <a:t>A structured view of tradeoffs, prerequisites, and risks</a:t>
            </a:r>
          </a:p>
          <a:p>
            <a:r>
              <a:t>A basis for management to choose a target state and define the transition path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IT ">
  <a:themeElements>
    <a:clrScheme name="Office">
      <a:dk1>
        <a:srgbClr val="545759"/>
      </a:dk1>
      <a:lt1>
        <a:srgbClr val="FFFFFF"/>
      </a:lt1>
      <a:dk2>
        <a:srgbClr val="8A8B8C"/>
      </a:dk2>
      <a:lt2>
        <a:srgbClr val="C9C8C7"/>
      </a:lt2>
      <a:accent1>
        <a:srgbClr val="A31F34"/>
      </a:accent1>
      <a:accent2>
        <a:srgbClr val="041D40"/>
      </a:accent2>
      <a:accent3>
        <a:srgbClr val="006B67"/>
      </a:accent3>
      <a:accent4>
        <a:srgbClr val="00698E"/>
      </a:accent4>
      <a:accent5>
        <a:srgbClr val="6AA2B8"/>
      </a:accent5>
      <a:accent6>
        <a:srgbClr val="F6B221"/>
      </a:accent6>
      <a:hlink>
        <a:srgbClr val="0563C1"/>
      </a:hlink>
      <a:folHlink>
        <a:srgbClr val="954F72"/>
      </a:folHlink>
    </a:clrScheme>
    <a:fontScheme name="Custom 1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82F8EE10-4072-7D4B-8DB3-994D912C94FD}" vid="{D328AEAA-A8AA-C248-926A-BCF6177E36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97b299-c2ac-4eb1-aec2-08cd1aa2aff0">
      <Terms xmlns="http://schemas.microsoft.com/office/infopath/2007/PartnerControls"/>
    </lcf76f155ced4ddcb4097134ff3c332f>
    <TaxCatchAll xmlns="a5bf85ab-5b89-45d5-812d-d881043611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7E38411235A848B9BC3C2F06233B6B" ma:contentTypeVersion="16" ma:contentTypeDescription="Create a new document." ma:contentTypeScope="" ma:versionID="59e93b2cf53ebad2a10911b5c5bb3dc8">
  <xsd:schema xmlns:xsd="http://www.w3.org/2001/XMLSchema" xmlns:xs="http://www.w3.org/2001/XMLSchema" xmlns:p="http://schemas.microsoft.com/office/2006/metadata/properties" xmlns:ns2="7097b299-c2ac-4eb1-aec2-08cd1aa2aff0" xmlns:ns3="a5bf85ab-5b89-45d5-812d-d881043611a5" targetNamespace="http://schemas.microsoft.com/office/2006/metadata/properties" ma:root="true" ma:fieldsID="aaf1a357d07dc3e38611774c3c8bd284" ns2:_="" ns3:_="">
    <xsd:import namespace="7097b299-c2ac-4eb1-aec2-08cd1aa2aff0"/>
    <xsd:import namespace="a5bf85ab-5b89-45d5-812d-d881043611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97b299-c2ac-4eb1-aec2-08cd1aa2af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f85ab-5b89-45d5-812d-d881043611a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018993d-1d16-43cf-b63c-2f328976747f}" ma:internalName="TaxCatchAll" ma:showField="CatchAllData" ma:web="a5bf85ab-5b89-45d5-812d-d881043611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FB81A3-EB9C-4B5B-84A8-3AF39DB38F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ADDA77-3326-4952-8EB6-098CD7AE2F3F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a5bf85ab-5b89-45d5-812d-d881043611a5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7097b299-c2ac-4eb1-aec2-08cd1aa2aff0"/>
  </ds:schemaRefs>
</ds:datastoreItem>
</file>

<file path=customXml/itemProps3.xml><?xml version="1.0" encoding="utf-8"?>
<ds:datastoreItem xmlns:ds="http://schemas.openxmlformats.org/officeDocument/2006/customXml" ds:itemID="{73456697-91D3-40E4-9E25-ACB00D34D9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97b299-c2ac-4eb1-aec2-08cd1aa2aff0"/>
    <ds:schemaRef ds:uri="a5bf85ab-5b89-45d5-812d-d881043611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MIT 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MIT 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Iago Larrondo Perez-Izaguirre</dc:creator>
  <cp:lastModifiedBy>Iago Larrondo Perez-Izaguirre</cp:lastModifiedBy>
  <cp:revision>1</cp:revision>
  <dcterms:created xsi:type="dcterms:W3CDTF">2026-04-07T15:15:34Z</dcterms:created>
  <dcterms:modified xsi:type="dcterms:W3CDTF">2026-04-07T15:15:56Z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0x0101003C7E38411235A848B9BC3C2F06233B6B</vt:lpwstr>
  </property>
  <property fmtid="{D5CDD505-2E9C-101B-9397-08002B2CF9AE}" pid="3" name="MediaServiceImageTags">
    <vt:lpwstr/>
  </property>
</Properties>
</file>